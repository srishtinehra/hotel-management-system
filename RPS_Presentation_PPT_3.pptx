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0" r:id="rId2"/>
    <p:sldId id="4421" r:id="rId3"/>
    <p:sldId id="4422" r:id="rId4"/>
    <p:sldId id="4423" r:id="rId5"/>
    <p:sldId id="4424" r:id="rId6"/>
    <p:sldId id="4425" r:id="rId7"/>
    <p:sldId id="4426" r:id="rId8"/>
    <p:sldId id="4427" r:id="rId9"/>
    <p:sldId id="4428" r:id="rId10"/>
    <p:sldId id="4435" r:id="rId11"/>
    <p:sldId id="4436" r:id="rId12"/>
    <p:sldId id="4429" r:id="rId13"/>
    <p:sldId id="4430" r:id="rId14"/>
    <p:sldId id="4431" r:id="rId15"/>
    <p:sldId id="4432" r:id="rId16"/>
    <p:sldId id="4437" r:id="rId17"/>
    <p:sldId id="4438" r:id="rId18"/>
    <p:sldId id="4439" r:id="rId19"/>
    <p:sldId id="4440" r:id="rId20"/>
    <p:sldId id="4441" r:id="rId21"/>
    <p:sldId id="4442" r:id="rId22"/>
    <p:sldId id="4443" r:id="rId23"/>
    <p:sldId id="4433" r:id="rId24"/>
    <p:sldId id="443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Program_26SUB0726_JAVA J2EE INTEGRATION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23 June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-  70248_Shana_Shekh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                           70244_Srishti_Nehra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– Hotel Room Reservation System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Project Overview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354574"/>
            <a:ext cx="111616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Content: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Hotel Reservation Management System is a web-based application.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helps customers book rooms and manage reservations online.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Admin can manage hotels, rooms, customers, billing, and payments.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is built using Spring Boot with REST APIs and MySQL database.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supports role-based access for Admin and Customer.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B59C38DA-A34C-C1F9-F697-CCD8A6C8AA74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Project Overview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F4A4AFFA-66D4-F9F8-59C9-A76456C6D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6757B26A-6B4E-A1A8-9EB9-CC75AB25A353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155C7F-9F6E-2B26-C625-45163A19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C1424-38E7-A331-EFA1-20DE10EC9FD4}"/>
              </a:ext>
            </a:extLst>
          </p:cNvPr>
          <p:cNvSpPr txBox="1"/>
          <p:nvPr/>
        </p:nvSpPr>
        <p:spPr>
          <a:xfrm>
            <a:off x="273075" y="1354574"/>
            <a:ext cx="111616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Key Features: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 authentication (Admin &amp; Customer)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Room booking and cancellation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Billing and payment management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Dashboard for analytics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Secure login using JWT</a:t>
            </a:r>
            <a:endParaRPr lang="en-US" b="1" dirty="0"/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964992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85824BA3-8DB6-B412-BF39-EC622067CD8E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 Bold"/>
              </a:rPr>
              <a:t>Tools And Technologies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BBA70B3E-CF10-42AA-3AB9-A1554BDD1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70A52E76-08F4-113A-0C7D-C47C9B340BC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81AF5A-5A32-1239-B6C3-271AD340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D1100-0195-C536-0F52-D0D8E3BA389C}"/>
              </a:ext>
            </a:extLst>
          </p:cNvPr>
          <p:cNvSpPr txBox="1"/>
          <p:nvPr/>
        </p:nvSpPr>
        <p:spPr>
          <a:xfrm>
            <a:off x="273075" y="1420561"/>
            <a:ext cx="111616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Backend: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Java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Spring Boot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Spring Security (JWT Authentication)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Hibernate / JPA</a:t>
            </a:r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846869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B8D0F248-BF1B-E211-D306-5724E48319E7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 Bold"/>
              </a:rPr>
              <a:t>Tools And Technologies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0669B8B-F023-BBEF-9C95-0562432AC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FD7BF824-439D-269B-F699-3FFB44CB6684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E387895-08F1-D8C9-07D1-EC13EB1D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C05426-9E9E-3F4E-5FDA-2CDEAA758859}"/>
              </a:ext>
            </a:extLst>
          </p:cNvPr>
          <p:cNvSpPr txBox="1"/>
          <p:nvPr/>
        </p:nvSpPr>
        <p:spPr>
          <a:xfrm>
            <a:off x="273075" y="1354574"/>
            <a:ext cx="111616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Frontend: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Thymeleaf</a:t>
            </a:r>
            <a:r>
              <a:rPr lang="en-IN" dirty="0"/>
              <a:t> (Server-side rendering)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HTML, CSS, JavaScript 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Database: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MySQL </a:t>
            </a:r>
          </a:p>
          <a:p>
            <a:endParaRPr lang="en-US" dirty="0"/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330667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95ECBB10-9ED7-8F9D-2930-E8832F1AF301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 Bold"/>
              </a:rPr>
              <a:t>Tools And Technologies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68D4FF18-47B0-AA0E-BBD0-C6926772E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271BBA27-D808-E38A-E76B-46BEA3766A11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749A962-21D3-735D-07E8-C6134220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4E7475-5857-C650-EE94-AE47D2F0FC05}"/>
              </a:ext>
            </a:extLst>
          </p:cNvPr>
          <p:cNvSpPr txBox="1"/>
          <p:nvPr/>
        </p:nvSpPr>
        <p:spPr>
          <a:xfrm>
            <a:off x="273075" y="1354574"/>
            <a:ext cx="111616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Tools:</a:t>
            </a:r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Maven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Postman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Swagger UI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Eclipse</a:t>
            </a:r>
          </a:p>
          <a:p>
            <a:r>
              <a:rPr lang="en-US" dirty="0"/>
              <a:t> </a:t>
            </a:r>
          </a:p>
          <a:p>
            <a:endParaRPr lang="en-US" dirty="0"/>
          </a:p>
          <a:p>
            <a:r>
              <a:rPr lang="en-IN" b="1" dirty="0"/>
              <a:t>Architecture: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Layered </a:t>
            </a:r>
            <a:r>
              <a:rPr lang="en-IN" dirty="0"/>
              <a:t>Architecture (Controller → Service → Repository)</a:t>
            </a:r>
            <a:endParaRPr lang="en-US" dirty="0"/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454647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4C3386CA-0CA1-08E0-647C-D4335EE18FDD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Project Design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6141518E-FCC3-42F0-8F5C-202A81254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C69E6CEE-5F9E-A751-71C6-FF52540DC96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5D8A59-E008-9570-E030-1673592A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4D15C9-7F77-FB05-1567-8C2D0EA88304}"/>
              </a:ext>
            </a:extLst>
          </p:cNvPr>
          <p:cNvSpPr txBox="1"/>
          <p:nvPr/>
        </p:nvSpPr>
        <p:spPr>
          <a:xfrm>
            <a:off x="273075" y="1354574"/>
            <a:ext cx="111616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Architecture Flow: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Client (Browser/Postman)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Controller Layer (API)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Service Layer (Business Logic)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Repository Layer (Database Access)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MySQL Database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973253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A2CCDF2E-6B66-E027-57C8-A29DD48279D7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Project Design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6E590CDE-D6D3-F294-A4DE-5D2E479D5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435DECE7-4C29-A81B-59A2-0847CE069DF3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CABA85-471E-36CB-561F-866601FDA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4998F1-5A4C-E1E4-D4B0-9B8A5B6A4934}"/>
              </a:ext>
            </a:extLst>
          </p:cNvPr>
          <p:cNvSpPr txBox="1"/>
          <p:nvPr/>
        </p:nvSpPr>
        <p:spPr>
          <a:xfrm>
            <a:off x="273075" y="1354574"/>
            <a:ext cx="111616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Key Design Principles:</a:t>
            </a:r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MVC Architecture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DTO Pattern for data transfer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Mapper layer for conversion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JWT-based security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Role-based access control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098052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207BFDDD-848D-F8FC-CDDB-F187894EEB3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Project Design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FA8A830-8D4A-B977-148C-FE2F61844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E24E7546-7D11-6F0A-73D4-81D5064C0620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84467E-B94F-05DB-A90A-736C7140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EB6E06-9793-5C44-346B-0E0787733812}"/>
              </a:ext>
            </a:extLst>
          </p:cNvPr>
          <p:cNvSpPr txBox="1"/>
          <p:nvPr/>
        </p:nvSpPr>
        <p:spPr>
          <a:xfrm>
            <a:off x="273075" y="1354574"/>
            <a:ext cx="111616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Modules: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Authentication Module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Admin Management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Management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Hotel And Room Management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Reservation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Billing And Payment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Dashboard Module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2719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2F7C8D5B-775D-F066-6860-DD993F39727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Database Design (ER Diagram)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0C99391-34C6-5830-818C-C0454EB3C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DA4AA4B8-2E26-8C19-81BE-C2C72C10CB7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BF67474-EE45-ADE8-FD83-B8AA86C5E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9BA53B-F40A-51A0-963A-56B6CE08B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084082"/>
            <a:ext cx="9652655" cy="506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20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A24DE7CD-C89B-E4F3-4C09-8C6FD20AB640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Database Design (ER Diagram)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4096E2A3-EA33-C9A3-0648-EE0226748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B002BE61-4225-EA06-AF88-AD0EEC5B4FD0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B83B3E2-3071-AA17-C889-79FB672AD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B99537-66B0-4D3D-F9C3-521102999F5C}"/>
              </a:ext>
            </a:extLst>
          </p:cNvPr>
          <p:cNvSpPr txBox="1"/>
          <p:nvPr/>
        </p:nvSpPr>
        <p:spPr>
          <a:xfrm>
            <a:off x="273075" y="1354574"/>
            <a:ext cx="111616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 </a:t>
            </a:r>
            <a:r>
              <a:rPr lang="en-IN" b="1" dirty="0"/>
              <a:t>Relationship Explanation</a:t>
            </a:r>
            <a:r>
              <a:rPr lang="en-US" b="1" dirty="0"/>
              <a:t>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User → Admin</a:t>
            </a:r>
            <a:r>
              <a:rPr lang="en-IN" dirty="0"/>
              <a:t> : One-to-One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User → Customer</a:t>
            </a:r>
            <a:r>
              <a:rPr lang="en-IN" dirty="0"/>
              <a:t> : One-to-One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</a:t>
            </a:r>
            <a:r>
              <a:rPr lang="en-IN" b="1" dirty="0" err="1"/>
              <a:t>ustomer</a:t>
            </a:r>
            <a:r>
              <a:rPr lang="en-IN" b="1" dirty="0"/>
              <a:t>  → Reservation</a:t>
            </a:r>
            <a:r>
              <a:rPr lang="en-IN" dirty="0"/>
              <a:t> : One-to-Many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Room → Reservation</a:t>
            </a:r>
            <a:r>
              <a:rPr lang="en-IN" dirty="0"/>
              <a:t> : One-to-Many</a:t>
            </a:r>
            <a:endParaRPr lang="en-US" dirty="0"/>
          </a:p>
          <a:p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Hotel → Room</a:t>
            </a:r>
            <a:r>
              <a:rPr lang="en-IN" dirty="0"/>
              <a:t> : One-to-Many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Reservation → Billing</a:t>
            </a:r>
            <a:r>
              <a:rPr lang="en-IN" dirty="0"/>
              <a:t> : One-to-One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725232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A62AE20E-2D35-008D-A561-DA6EA9D5A141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Project Structure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9F86D56F-D6D7-B15E-D3E1-59269696D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53773DE3-DD32-4635-D818-47BD22B0E9A2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37F186C-B0EA-58F7-B759-86B9718E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62A973-D363-71AD-FA5C-FD8BAD7F49BE}"/>
              </a:ext>
            </a:extLst>
          </p:cNvPr>
          <p:cNvSpPr txBox="1"/>
          <p:nvPr/>
        </p:nvSpPr>
        <p:spPr>
          <a:xfrm>
            <a:off x="273075" y="953521"/>
            <a:ext cx="1116163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Package Structure:</a:t>
            </a:r>
          </a:p>
          <a:p>
            <a:endParaRPr lang="en-US" b="1" dirty="0"/>
          </a:p>
          <a:p>
            <a:r>
              <a:rPr lang="en-US" dirty="0" err="1"/>
              <a:t>com.hotel.Hotel_Reservation_Management</a:t>
            </a:r>
            <a:endParaRPr lang="en-US" dirty="0"/>
          </a:p>
          <a:p>
            <a:r>
              <a:rPr lang="en-US" dirty="0"/>
              <a:t>│</a:t>
            </a:r>
          </a:p>
          <a:p>
            <a:r>
              <a:rPr lang="en-US" dirty="0"/>
              <a:t>├── controller</a:t>
            </a:r>
          </a:p>
          <a:p>
            <a:r>
              <a:rPr lang="en-US" dirty="0"/>
              <a:t>├── service</a:t>
            </a:r>
          </a:p>
          <a:p>
            <a:r>
              <a:rPr lang="en-US" dirty="0"/>
              <a:t>├── </a:t>
            </a:r>
            <a:r>
              <a:rPr lang="en-US" dirty="0" err="1"/>
              <a:t>serviceImpl</a:t>
            </a:r>
            <a:endParaRPr lang="en-US" dirty="0"/>
          </a:p>
          <a:p>
            <a:r>
              <a:rPr lang="en-US" dirty="0"/>
              <a:t>├── repository</a:t>
            </a:r>
          </a:p>
          <a:p>
            <a:r>
              <a:rPr lang="en-US" dirty="0"/>
              <a:t>├── entity</a:t>
            </a:r>
          </a:p>
          <a:p>
            <a:r>
              <a:rPr lang="en-US" dirty="0"/>
              <a:t>├── </a:t>
            </a:r>
            <a:r>
              <a:rPr lang="en-US" dirty="0" err="1"/>
              <a:t>dto</a:t>
            </a:r>
            <a:endParaRPr lang="en-US" dirty="0"/>
          </a:p>
          <a:p>
            <a:r>
              <a:rPr lang="en-US" dirty="0"/>
              <a:t>├── mapper</a:t>
            </a:r>
          </a:p>
          <a:p>
            <a:r>
              <a:rPr lang="en-US" dirty="0"/>
              <a:t>├── security</a:t>
            </a:r>
          </a:p>
          <a:p>
            <a:r>
              <a:rPr lang="en-US" dirty="0"/>
              <a:t>├── config</a:t>
            </a:r>
          </a:p>
          <a:p>
            <a:r>
              <a:rPr lang="en-US" dirty="0"/>
              <a:t>├── util</a:t>
            </a:r>
          </a:p>
          <a:p>
            <a:r>
              <a:rPr lang="en-US" dirty="0"/>
              <a:t>├── validator</a:t>
            </a:r>
          </a:p>
          <a:p>
            <a:r>
              <a:rPr lang="en-US" dirty="0"/>
              <a:t>├── </a:t>
            </a:r>
            <a:r>
              <a:rPr lang="en-US" dirty="0" err="1"/>
              <a:t>enums</a:t>
            </a:r>
            <a:endParaRPr lang="en-US" dirty="0"/>
          </a:p>
          <a:p>
            <a:r>
              <a:rPr lang="en-US" dirty="0"/>
              <a:t>├── exception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04669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D3546D3D-72B2-0B8D-C719-90C73BBD82F5}"/>
              </a:ext>
            </a:extLst>
          </p:cNvPr>
          <p:cNvSpPr/>
          <p:nvPr/>
        </p:nvSpPr>
        <p:spPr>
          <a:xfrm>
            <a:off x="273075" y="211475"/>
            <a:ext cx="1010256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Project Structure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  <a:p>
            <a:pPr>
              <a:spcBef>
                <a:spcPct val="0"/>
              </a:spcBef>
            </a:pP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9D94CF8A-B09B-DA88-9B85-AA475EEAA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0B8B800A-64E2-A2F8-8BE0-93445C73B57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A46A631-A2AA-2216-7B4D-1E2668543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872DCA-3DF6-B358-6FD8-82122AEE3B58}"/>
              </a:ext>
            </a:extLst>
          </p:cNvPr>
          <p:cNvSpPr txBox="1"/>
          <p:nvPr/>
        </p:nvSpPr>
        <p:spPr>
          <a:xfrm>
            <a:off x="273075" y="1150381"/>
            <a:ext cx="111616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Explanation: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Controller → Handles API requests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Service → Business logic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Repository → Database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Entity → Database tables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DTO → Data transfer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Mapper → Entity ↔ DTO conversion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Security → Authentication &amp; JWT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Config → System configuration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Util → Helper methods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Validator → Input validation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873429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0B7F54AC-538A-C541-40C7-AEDD4FBCAD3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 Bold"/>
              </a:rPr>
              <a:t>Detailed Test Cases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167B543B-7AAD-C130-2E03-BF57FD4F5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6CF6EDE0-9B12-9D22-CD62-57E42D718D82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E6055F-4DFB-0059-9372-C6C861E1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600C66-7A07-90B3-A2AC-173D9D88CDC2}"/>
              </a:ext>
            </a:extLst>
          </p:cNvPr>
          <p:cNvSpPr txBox="1"/>
          <p:nvPr/>
        </p:nvSpPr>
        <p:spPr>
          <a:xfrm>
            <a:off x="273075" y="889353"/>
            <a:ext cx="111616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Unit testing is done using </a:t>
            </a:r>
            <a:r>
              <a:rPr lang="en-US" b="1" dirty="0"/>
              <a:t>JUnit 5</a:t>
            </a:r>
            <a:r>
              <a:rPr lang="en-US" dirty="0"/>
              <a:t> and </a:t>
            </a:r>
            <a:r>
              <a:rPr lang="en-US" b="1" dirty="0"/>
              <a:t>Mockito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Tests are written for </a:t>
            </a:r>
            <a:r>
              <a:rPr lang="en-US" b="1" dirty="0"/>
              <a:t>Controller and Service layers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Room Module Test Cases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Create Room</a:t>
            </a:r>
            <a:r>
              <a:rPr lang="en-US" dirty="0"/>
              <a:t> → Room created successfully with valid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Get Room by ID</a:t>
            </a:r>
            <a:r>
              <a:rPr lang="en-US" dirty="0"/>
              <a:t> → Correct room details returned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Get All Rooms</a:t>
            </a:r>
            <a:r>
              <a:rPr lang="en-US" dirty="0"/>
              <a:t> → </a:t>
            </a:r>
            <a:r>
              <a:rPr lang="en-IN" dirty="0"/>
              <a:t>List of rooms returned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Get Rooms by Hotel</a:t>
            </a:r>
            <a:r>
              <a:rPr lang="en-US" dirty="0"/>
              <a:t> → Rooms filtered by hotel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Update Room</a:t>
            </a:r>
            <a:r>
              <a:rPr lang="en-US" dirty="0"/>
              <a:t> → Room details updated successfully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Delete Room</a:t>
            </a:r>
            <a:r>
              <a:rPr lang="en-US" dirty="0"/>
              <a:t> → Room deleted successfully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C607D9C-2DDA-C1EB-A83A-5308B96A8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795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01F4BE74-6EAF-6827-4310-E1CD8315FCB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 Bold"/>
              </a:rPr>
              <a:t>Detailed Test Cases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B9B3380A-F99F-5652-B422-8D65E9CD1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F5441BE2-8C88-CD49-3787-220F604EA207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9FDEC42-F4A5-2FBF-1103-41C9EFF8E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002291-C711-4A9D-1ED8-1332794C45B0}"/>
              </a:ext>
            </a:extLst>
          </p:cNvPr>
          <p:cNvSpPr txBox="1"/>
          <p:nvPr/>
        </p:nvSpPr>
        <p:spPr>
          <a:xfrm>
            <a:off x="273075" y="921437"/>
            <a:ext cx="111616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Service Layer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Room creation service tested with mocked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Room retrieval tested using mock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Room update and delete operations verified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Testing Tools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JUnit 5</a:t>
            </a:r>
            <a:r>
              <a:rPr lang="en-US" dirty="0"/>
              <a:t> → Unit testing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Mockito</a:t>
            </a:r>
            <a:r>
              <a:rPr lang="en-IN" dirty="0"/>
              <a:t> → Mocking 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Assertions</a:t>
            </a:r>
            <a:r>
              <a:rPr lang="en-IN" dirty="0"/>
              <a:t> → Validate expected results 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major CRUD operations are tested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Mockito ensures isolated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system reliability and correctness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977774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8EFBD66-C750-879C-B3F6-E0BED782D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088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204BE4-A145-A005-0784-F96D6E2C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07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15BF84-D89C-C573-ACD9-70150AAAB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936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8E6252-E8AB-1E2F-2F1B-5FFC745C6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67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19A41A-B9B1-00B4-2559-D23928C71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76" y="0"/>
            <a:ext cx="115188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253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0BD39B-27EC-C216-72FE-5B9599BAC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187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005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890B48-55DE-74C8-0A1A-6C7BE8FE9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75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54D33EFA-CE7D-0A80-220A-B236D557EA3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 Bold"/>
              </a:rPr>
              <a:t>Conclusion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HK Grotesk Bold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3CA9829D-7CE5-F581-3455-430BE1B24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CBC396BE-4C2F-70EA-35C7-6443F0BC9B2F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B91A26-1D30-F805-E418-60DB39D2F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CA1B20-769A-0733-C2C6-787C9968C6FF}"/>
              </a:ext>
            </a:extLst>
          </p:cNvPr>
          <p:cNvSpPr txBox="1"/>
          <p:nvPr/>
        </p:nvSpPr>
        <p:spPr>
          <a:xfrm>
            <a:off x="273075" y="1354574"/>
            <a:ext cx="111616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Content: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project successfully implements a complete hotel booking system.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provides secure authentication using JWT.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Role-based access ensures security for Admin and Customer.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 efficiently manages hotels, rooms, reservations, billing, and payments.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demonstrates real-world enterprise-level Spring Boot architecture.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284436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E7D8DCCA-AB3B-0394-EB65-7BFB132A1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0737B824-30F3-66C8-E19F-DBDCDFBB3B4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66F2D29-D47A-2D5A-A315-6E86B61A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786CA7-35B5-96AA-A82B-8E52814FBD5B}"/>
              </a:ext>
            </a:extLst>
          </p:cNvPr>
          <p:cNvSpPr txBox="1"/>
          <p:nvPr/>
        </p:nvSpPr>
        <p:spPr>
          <a:xfrm>
            <a:off x="273075" y="1354574"/>
            <a:ext cx="1116163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pPr algn="just"/>
            <a:r>
              <a:rPr lang="en-US" dirty="0">
                <a:solidFill>
                  <a:srgbClr val="0187CC"/>
                </a:solidFill>
                <a:latin typeface="HK Grotesk"/>
              </a:rPr>
              <a:t>                                                                             </a:t>
            </a:r>
            <a:r>
              <a:rPr lang="en-US" sz="4400" b="1" dirty="0">
                <a:solidFill>
                  <a:srgbClr val="0187CC"/>
                </a:solidFill>
                <a:latin typeface="HK Grotesk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34239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4002</TotalTime>
  <Words>727</Words>
  <Application>Microsoft Office PowerPoint</Application>
  <PresentationFormat>Widescreen</PresentationFormat>
  <Paragraphs>232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srishti nehra</cp:lastModifiedBy>
  <cp:revision>22</cp:revision>
  <dcterms:created xsi:type="dcterms:W3CDTF">2024-05-04T13:11:57Z</dcterms:created>
  <dcterms:modified xsi:type="dcterms:W3CDTF">2026-06-23T06:47:17Z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